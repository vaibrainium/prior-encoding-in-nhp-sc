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9" r:id="rId4"/>
    <p:sldId id="271" r:id="rId5"/>
    <p:sldId id="273" r:id="rId6"/>
    <p:sldId id="272" r:id="rId7"/>
    <p:sldId id="274" r:id="rId8"/>
    <p:sldId id="257" r:id="rId9"/>
    <p:sldId id="261" r:id="rId10"/>
    <p:sldId id="262" r:id="rId11"/>
    <p:sldId id="266" r:id="rId12"/>
    <p:sldId id="275" r:id="rId13"/>
    <p:sldId id="276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60" autoAdjust="0"/>
    <p:restoredTop sz="90984" autoAdjust="0"/>
  </p:normalViewPr>
  <p:slideViewPr>
    <p:cSldViewPr snapToGrid="0">
      <p:cViewPr varScale="1">
        <p:scale>
          <a:sx n="105" d="100"/>
          <a:sy n="105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E252F-87BF-4487-AB21-8F0FF193234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72248-5027-4A3C-9488-9C593E53F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Top: Trial structure of the Glass Pattern task shown in a temporal sequence. The subject can choose as soon as the glass pattern stimuli appears.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Bottom: Every session is divided in two blocks. First is the equal block with 50/50 probability of left and right choices, The second block has unequal probability, with one target shown 70% probability and the other 30%. Each block consists of 400-900 trials.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7B371-ADA0-464E-A5F2-5276C7C18E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63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Psychometric functions of equal and unequal block in left prior(left panel, n=24) and right prior(right panel, n=21) sessions.</a:t>
            </a:r>
          </a:p>
          <a:p>
            <a:r>
              <a:rPr lang="en-US" sz="1200" dirty="0"/>
              <a:t>Dots are datapoints and lines are logistic fits. Transparent traces are session wise data, thicker traces are mean across sessions.</a:t>
            </a:r>
          </a:p>
          <a:p>
            <a:endParaRPr lang="en-US" dirty="0"/>
          </a:p>
          <a:p>
            <a:r>
              <a:rPr lang="en-US" sz="1200" dirty="0"/>
              <a:t>Top: Scatterplot of logistic fits alpha(threshold) parameters of each session in equal block vs unequal block.</a:t>
            </a:r>
          </a:p>
          <a:p>
            <a:r>
              <a:rPr lang="en-US" sz="1200" dirty="0"/>
              <a:t>Bottom: Same as top for logistic fit beta parameter.</a:t>
            </a:r>
          </a:p>
          <a:p>
            <a:r>
              <a:rPr lang="en-US" sz="1200" dirty="0"/>
              <a:t>Blue: left prior sessions, Brown: right prior sessions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241002_GP_TZ equal beta is 0.172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0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Psychometric functions fit to left and right choices separately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8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Chronometric functions of equal and unequal prior blocks for left-prior sessions (top panel, n=24 sessions) and right-prior sessions (bottom panel, n=21 sessions).In each panel, the left subplot shows mean reaction time for correct trials, and the right subplot shows mean reaction time for incorrect trials.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4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Traditional psychophysics (SDT)</a:t>
            </a:r>
            <a:r>
              <a:rPr lang="en-US" dirty="0"/>
              <a:t> assumes a static criterion and lacks temporal structure.</a:t>
            </a:r>
            <a:br>
              <a:rPr lang="en-US" dirty="0"/>
            </a:br>
            <a:r>
              <a:rPr lang="en-US" b="1" dirty="0"/>
              <a:t>Drift-diffusion models (DDM)</a:t>
            </a:r>
            <a:r>
              <a:rPr lang="en-US" dirty="0"/>
              <a:t> introduce within-trial dynamics but ignore across-trial dependencies.</a:t>
            </a:r>
            <a:br>
              <a:rPr lang="en-US" dirty="0"/>
            </a:br>
            <a:r>
              <a:rPr lang="en-US" b="1" dirty="0"/>
              <a:t>GLM-HMM</a:t>
            </a:r>
            <a:r>
              <a:rPr lang="en-US" dirty="0"/>
              <a:t> bridges the gap by modeling hidden cognitive states that evolve over trials and shape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42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Biased to Biased: [0.990, 1.000]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Biased to Unbiased: [0.000, 0.010]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Unbiased to Biased: [0.000, 0.009]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Unbiased to Unbiased: [0.991, 1.000]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ranges above are clipped between 0 and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32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Log-likelihood: 2 states is the best</a:t>
            </a:r>
          </a:p>
          <a:p>
            <a:r>
              <a:rPr lang="en-US" dirty="0"/>
              <a:t>Predictive accuracy: 5 states is the highest</a:t>
            </a:r>
          </a:p>
          <a:p>
            <a:endParaRPr lang="en-US" dirty="0"/>
          </a:p>
          <a:p>
            <a:r>
              <a:rPr lang="en-US" dirty="0"/>
              <a:t>5 states models are overall over-confident, i.e. higher penalty on incorrect predictions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27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676C2-6E7E-86D0-55FA-0FFBAF67A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10152-3A39-5656-FEE7-6106915C8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1AC3C-EDA9-B509-CE9F-3304E280E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prior only: 1 state</a:t>
            </a:r>
          </a:p>
          <a:p>
            <a:r>
              <a:rPr lang="en-US" dirty="0"/>
              <a:t>Unequal prior only: 2 states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C810-D811-8AC2-3F11-DE1CEC83C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58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3CF2-D52B-A8B8-14DE-FD8C084C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A609A-9E14-106D-4715-0A7312164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777AE-7C52-2E46-2CCF-45DD9CD0A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prior only: 1 state</a:t>
            </a:r>
          </a:p>
          <a:p>
            <a:r>
              <a:rPr lang="en-US" dirty="0"/>
              <a:t>Unequal prior only: 2 states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DCACA-4E4D-87DC-EB02-39E6B14A9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91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174D-4889-6B1A-5F22-0512173A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90C6B-394D-98F5-5989-3B6287E78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655C-F4C7-B025-6088-E77E1DF08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41845-DBF9-D5D3-0AD0-EB44364BA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72248-5027-4A3C-9488-9C593E53F3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07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B8B1-5EE2-A939-BA5A-D22E9F928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93796-2CE0-7A3F-29AD-2E56C9A6A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CC1D-A3EB-40F5-20D1-74F8A83E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E9938-28B6-14B0-F44C-E194B2B5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F12DE-CE0B-F59E-9353-049B0366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659A-856B-2ED8-68B2-EB9807DC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AD865-ADC3-52F9-2234-49B13CE32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B0319-E71F-551A-F6FF-2A27FBC7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C3A6A-094D-245E-CEE4-AD4FA5AE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1B371-8FDC-7724-15F5-934EF6FD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80AC-ACB7-071C-4FFA-B6654BE17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FEB0E-34B2-8285-E6D2-4DC6A732E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67285-5CC3-0C41-3565-40DA2665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E6A7A-5B88-26A6-5747-569853D9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66051-089B-70DB-CB71-50581195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5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8AFB-18CE-6E7F-4721-193959BF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BE2A5-956A-1A00-3557-D1E303903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561B2-CD8A-8758-5D9A-AB67F0F5D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2D394-A528-A6A9-2DBE-56A36589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CD1E6-5D18-D08B-B16B-3A6FA502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F0625-693C-BBB5-23DD-DB0B6EFA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7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5B08-EF84-6319-A437-B9894E62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3AEF-C52C-C275-ED9F-4E5A862B0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98C05-5E0B-2549-227F-779FD3AD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CBDB4-5C34-E7D0-64E4-F2B7B3D9A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012B8-7F01-2593-5021-49B5516FF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70739-68E0-BA40-711E-0145DD7D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CCD5F8-84ED-B691-31AC-6FCCA65E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57918-F31D-468A-87AD-1D9F856C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2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435E-5B74-D339-E3EF-BE8E4DC4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E3E95-5085-9BB9-4924-39593D35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C777A-AB1B-1133-994B-791DA9A6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298F4-958F-233A-4FB7-26F79AC6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07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401A2-591A-7164-E278-58A00F20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40884-B6E7-7FEA-8C77-C1AC66DF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3F9AA-D399-5394-10FB-39331548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6B47-2542-46CC-BD9B-8CEC55E0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57D36-BBF3-EDCD-E7B2-2A16F7EBC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00D53-7F4D-A330-F096-657AFDC9C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21E79-46E7-6F71-F9E1-A76393CC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A034D-CED1-6EB5-5D27-B10D72E1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D4D42-4C52-399B-7711-A7098F1B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F8AF-3037-F5B8-89B8-AF7406A86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9924C-13C3-8A4B-8711-0233BFD1F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FFDC9-64F1-B0AB-C18F-32935CADE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1E4FC-14BC-F26F-ADC3-0E27E260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CB6D0-C90A-8D6F-7303-49BD85DE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60419-DCE5-9D68-D192-BD60D7DD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95E1-C69D-3945-8D63-79ECA4EB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880F7-7D65-3CC5-037A-E7B2407D0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EAC74-3CC0-2AEC-05F1-602C6575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9B646-434A-6202-14A5-998FB4BC1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14563-BE45-2D40-0837-4D81F996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8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48DBD-D773-94FA-DB7B-8EC2D388E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B51AF-90EB-A478-1CFA-FBBF916A1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B2425-2209-863D-0C18-06DA88CF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160A2-E068-8C7F-FD7A-CA3F174C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C37A6-DB27-D0DE-6FF1-76D28B97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8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2C08D-9E10-18D8-F1BB-7951C7DF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12877-8AF8-8B1B-5749-EA29C0910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3B625-FB18-B3A4-0287-DB57CBBF6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6AAF7-2BB1-4A84-8C15-D326179851E7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C912D-E717-4656-C34A-30F3B1CD9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58B4E-D96D-66AB-A085-BC6388EAB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AA540-0967-4BAE-A9AF-A7B44EDDC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5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microsoft.com/office/2007/relationships/media" Target="../media/media2.mp4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11" Type="http://schemas.openxmlformats.org/officeDocument/2006/relationships/image" Target="../media/image1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4" Type="http://schemas.openxmlformats.org/officeDocument/2006/relationships/video" Target="../media/media2.mp4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BD1E-DF14-CDF1-14E5-33F8534E5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3259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Prior encoding of Superior Colliculus in perceptual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2414007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880B41-F9A2-642C-9555-289FE121F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8" b="47872"/>
          <a:stretch/>
        </p:blipFill>
        <p:spPr>
          <a:xfrm>
            <a:off x="1895038" y="1413300"/>
            <a:ext cx="5664518" cy="27015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C616500-39DA-E70C-1280-116756D1988D}"/>
              </a:ext>
            </a:extLst>
          </p:cNvPr>
          <p:cNvGrpSpPr/>
          <p:nvPr/>
        </p:nvGrpSpPr>
        <p:grpSpPr>
          <a:xfrm>
            <a:off x="2537360" y="4410635"/>
            <a:ext cx="3370730" cy="612400"/>
            <a:chOff x="1303020" y="4491318"/>
            <a:chExt cx="4422290" cy="7925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51D99C-FF91-3DE5-5D42-1B3C83E7BD6C}"/>
                </a:ext>
              </a:extLst>
            </p:cNvPr>
            <p:cNvSpPr/>
            <p:nvPr/>
          </p:nvSpPr>
          <p:spPr>
            <a:xfrm>
              <a:off x="1303020" y="4491318"/>
              <a:ext cx="2211145" cy="78889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038B71-2DD1-FDEA-B72E-81FD22ED99A8}"/>
                </a:ext>
              </a:extLst>
            </p:cNvPr>
            <p:cNvSpPr/>
            <p:nvPr/>
          </p:nvSpPr>
          <p:spPr>
            <a:xfrm>
              <a:off x="3514165" y="4491318"/>
              <a:ext cx="2211145" cy="7888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62632E-E3E9-3ED3-CA25-7F0EF9DD1BFD}"/>
                </a:ext>
              </a:extLst>
            </p:cNvPr>
            <p:cNvSpPr txBox="1"/>
            <p:nvPr/>
          </p:nvSpPr>
          <p:spPr>
            <a:xfrm>
              <a:off x="1303020" y="4516192"/>
              <a:ext cx="2211146" cy="75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rPr>
                <a:t>Equal block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rPr>
                <a:t>50:50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532924-E0BA-A55A-C98C-B0910C1B8402}"/>
                </a:ext>
              </a:extLst>
            </p:cNvPr>
            <p:cNvSpPr txBox="1"/>
            <p:nvPr/>
          </p:nvSpPr>
          <p:spPr>
            <a:xfrm>
              <a:off x="3514163" y="4527068"/>
              <a:ext cx="2211143" cy="75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rPr>
                <a:t>Unequal block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rPr>
                <a:t>70:30 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877C7BD-D466-C7E7-D408-BB8712CE104E}"/>
              </a:ext>
            </a:extLst>
          </p:cNvPr>
          <p:cNvSpPr txBox="1"/>
          <p:nvPr/>
        </p:nvSpPr>
        <p:spPr>
          <a:xfrm flipV="1">
            <a:off x="1343431" y="1452283"/>
            <a:ext cx="492443" cy="18467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Trial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18246-38DA-F81A-986F-9FADB4B4B9C8}"/>
              </a:ext>
            </a:extLst>
          </p:cNvPr>
          <p:cNvSpPr txBox="1"/>
          <p:nvPr/>
        </p:nvSpPr>
        <p:spPr>
          <a:xfrm flipV="1">
            <a:off x="1343431" y="3558988"/>
            <a:ext cx="492443" cy="18467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Block design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4DA63-A312-5F14-1934-6E043C4859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Fig1. Task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5FA80C4-C9E3-B6D6-E326-035058A4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99CBE-8F7E-C530-C055-79E73B8B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3" y="1622611"/>
            <a:ext cx="5709668" cy="28410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CD59AD-32C3-CB2C-4324-537D54E9E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9627" y="744013"/>
            <a:ext cx="3308102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56B488-4807-06A5-33E5-8136D0605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7980" y="3812955"/>
            <a:ext cx="3303822" cy="2743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E434BDD-AAEF-1BE6-1E64-83D90B03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Fig.1 Behavior</a:t>
            </a:r>
          </a:p>
        </p:txBody>
      </p:sp>
    </p:spTree>
    <p:extLst>
      <p:ext uri="{BB962C8B-B14F-4D97-AF65-F5344CB8AC3E}">
        <p14:creationId xmlns:p14="http://schemas.microsoft.com/office/powerpoint/2010/main" val="203953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D712-10F1-0F8D-C7B2-5C9FEAD6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 fig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DBAF8F-3C19-4AB3-AB49-6E687EE92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74" y="882526"/>
            <a:ext cx="6180595" cy="509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0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B3AB-9673-7EA3-BB02-627829607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D72A-81BA-4824-0651-F8E6E0D0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 fig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138CFE-B62C-5BE5-68CB-9DB0ABBD5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161" y="685800"/>
            <a:ext cx="629414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0F72F3-F42A-513B-A8FB-D5E7F596A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161" y="3749675"/>
            <a:ext cx="624341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1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45ED-11B9-CD40-FD80-5FCAA6C3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AB51-375D-315B-92F8-B0A3C138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 fig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20CA8C-764A-7165-05E2-57744599C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6161" y="685800"/>
            <a:ext cx="629414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9BEFE-43F8-854A-159F-FF604B8B8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624" y="3569560"/>
            <a:ext cx="6243413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66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CD58-AA8D-2A0B-2744-4718B162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 fig.2 Rolling PMF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F5D7-06FC-55E6-5307-33B44FA9B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9090" cy="4351338"/>
          </a:xfrm>
        </p:spPr>
        <p:txBody>
          <a:bodyPr/>
          <a:lstStyle/>
          <a:p>
            <a:r>
              <a:rPr lang="en-US" dirty="0"/>
              <a:t>Psych function every 80 trials.</a:t>
            </a:r>
          </a:p>
          <a:p>
            <a:r>
              <a:rPr lang="en-US" dirty="0"/>
              <a:t>Convolve with rolling mean kernel of 30 window size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C514E-EE6E-666D-F239-86CC58EED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99116" y="146048"/>
            <a:ext cx="4360092" cy="671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3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F0A8-A801-B0AD-CA01-3875524E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Fig.1 Behavior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936681-5B3C-5238-596D-02EA5162C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79" y="597716"/>
            <a:ext cx="7607064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658C9E-1DB3-8EF4-504F-99DA4B414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77" y="3463986"/>
            <a:ext cx="7607066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69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nimation_cConservative">
            <a:hlinkClick r:id="" action="ppaction://media"/>
            <a:extLst>
              <a:ext uri="{FF2B5EF4-FFF2-40B4-BE49-F238E27FC236}">
                <a16:creationId xmlns:a16="http://schemas.microsoft.com/office/drawing/2014/main" id="{66D30052-3801-AFC0-13F5-6C1197D2A4D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3223" y="3250406"/>
            <a:ext cx="3048278" cy="2286000"/>
          </a:xfrm>
        </p:spPr>
      </p:pic>
      <p:pic>
        <p:nvPicPr>
          <p:cNvPr id="6" name="Picture 5" descr="A black and white graph&#10;&#10;AI-generated content may be incorrect.">
            <a:extLst>
              <a:ext uri="{FF2B5EF4-FFF2-40B4-BE49-F238E27FC236}">
                <a16:creationId xmlns:a16="http://schemas.microsoft.com/office/drawing/2014/main" id="{1AAA0A0F-7C5A-0D46-0602-7E298DBEA6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792" y="1945158"/>
            <a:ext cx="3048000" cy="2286000"/>
          </a:xfrm>
          <a:prstGeom prst="rect">
            <a:avLst/>
          </a:prstGeom>
        </p:spPr>
      </p:pic>
      <p:pic>
        <p:nvPicPr>
          <p:cNvPr id="7" name="animation_dprime">
            <a:hlinkClick r:id="" action="ppaction://media"/>
            <a:extLst>
              <a:ext uri="{FF2B5EF4-FFF2-40B4-BE49-F238E27FC236}">
                <a16:creationId xmlns:a16="http://schemas.microsoft.com/office/drawing/2014/main" id="{F92FB77D-3C2E-B1D4-14E7-7692A912E84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43501" y="390850"/>
            <a:ext cx="3048000" cy="228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957488-65A2-9A8F-D38B-0CE89FC539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6612" y="2729691"/>
            <a:ext cx="3956625" cy="2688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24CA4A-29A7-3A0E-8B6E-05D2A65E98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2810" y="114075"/>
            <a:ext cx="3505689" cy="308653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09136-A665-86E4-7732-CD3CB2625A25}"/>
              </a:ext>
            </a:extLst>
          </p:cNvPr>
          <p:cNvCxnSpPr/>
          <p:nvPr/>
        </p:nvCxnSpPr>
        <p:spPr>
          <a:xfrm>
            <a:off x="4086225" y="271456"/>
            <a:ext cx="0" cy="6293644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E0C57E-F420-51AE-82D0-1E7AD82EA768}"/>
              </a:ext>
            </a:extLst>
          </p:cNvPr>
          <p:cNvCxnSpPr/>
          <p:nvPr/>
        </p:nvCxnSpPr>
        <p:spPr>
          <a:xfrm>
            <a:off x="7928962" y="427117"/>
            <a:ext cx="0" cy="6293644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03589E-E80F-7C18-989B-3F3F64A154DA}"/>
              </a:ext>
            </a:extLst>
          </p:cNvPr>
          <p:cNvSpPr txBox="1"/>
          <p:nvPr/>
        </p:nvSpPr>
        <p:spPr>
          <a:xfrm>
            <a:off x="150019" y="5536406"/>
            <a:ext cx="3341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Stationary decision criterion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No time or learning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Independent trials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Priors shift bias (α), not sensitivity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008572-B693-7231-E791-11104663EFF2}"/>
              </a:ext>
            </a:extLst>
          </p:cNvPr>
          <p:cNvSpPr txBox="1"/>
          <p:nvPr/>
        </p:nvSpPr>
        <p:spPr>
          <a:xfrm>
            <a:off x="4186238" y="4850606"/>
            <a:ext cx="3495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Within-trial dynamics which captures RT and accuracy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Fixed bias, no history dependence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4818D3-76C7-00B8-397F-E92F5C715B87}"/>
              </a:ext>
            </a:extLst>
          </p:cNvPr>
          <p:cNvSpPr txBox="1"/>
          <p:nvPr/>
        </p:nvSpPr>
        <p:spPr>
          <a:xfrm>
            <a:off x="8242810" y="5418289"/>
            <a:ext cx="3528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Between-trial dependencies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Latent cognitive states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History-aware decision model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AB5EE34D-DB65-2C56-C913-9A6CC74D3A2C}"/>
              </a:ext>
            </a:extLst>
          </p:cNvPr>
          <p:cNvSpPr/>
          <p:nvPr/>
        </p:nvSpPr>
        <p:spPr>
          <a:xfrm>
            <a:off x="1867489" y="2701750"/>
            <a:ext cx="45719" cy="5237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5CBCE9-3911-7285-BCFF-ECCEC1332823}"/>
              </a:ext>
            </a:extLst>
          </p:cNvPr>
          <p:cNvSpPr txBox="1"/>
          <p:nvPr/>
        </p:nvSpPr>
        <p:spPr>
          <a:xfrm>
            <a:off x="1946131" y="2729691"/>
            <a:ext cx="561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878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7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F9B1-CD61-B64C-0D8C-9C287283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2 GLM-HMM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C456D4-29BD-B94E-9175-4361FD929B8B}"/>
              </a:ext>
            </a:extLst>
          </p:cNvPr>
          <p:cNvGrpSpPr/>
          <p:nvPr/>
        </p:nvGrpSpPr>
        <p:grpSpPr>
          <a:xfrm>
            <a:off x="279007" y="2195407"/>
            <a:ext cx="4009943" cy="3126025"/>
            <a:chOff x="719119" y="2466518"/>
            <a:chExt cx="3589503" cy="27432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1462A-E301-AFE2-67CF-F12D27F77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9119" y="2534873"/>
              <a:ext cx="3589503" cy="2674845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4117C3B-20F6-17B8-21C5-1E5DA8189EBE}"/>
                </a:ext>
              </a:extLst>
            </p:cNvPr>
            <p:cNvSpPr/>
            <p:nvPr/>
          </p:nvSpPr>
          <p:spPr>
            <a:xfrm>
              <a:off x="1742565" y="2466518"/>
              <a:ext cx="500063" cy="460254"/>
            </a:xfrm>
            <a:prstGeom prst="roundRect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3A8FA4A-C80B-23AE-0E2F-F7767C483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4175" y="2239521"/>
            <a:ext cx="3845099" cy="3117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363F21-FA22-2429-0D4C-C5C9587664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3667" y="2195407"/>
            <a:ext cx="3939566" cy="30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6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AA24-BDA2-79B6-4683-6DF63DC1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60A0AB-3D04-1AE0-49FC-48FD416A0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94549" y="0"/>
            <a:ext cx="4114800" cy="3593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E24DCD-D397-183C-C7A5-3AC58BFDA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8368" y="361130"/>
            <a:ext cx="4114800" cy="3067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668DA3-F20A-DC0F-3F34-EEFA322FF5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2346" y="3664404"/>
            <a:ext cx="3806397" cy="30533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4EB53D-5A5F-73C3-5F80-A871BFA596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2980" y="3737827"/>
            <a:ext cx="6430522" cy="29798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FF93408-74AE-B4CF-ED9A-53020C00A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87" y="140281"/>
            <a:ext cx="2539701" cy="1325563"/>
          </a:xfrm>
        </p:spPr>
        <p:txBody>
          <a:bodyPr>
            <a:noAutofit/>
          </a:bodyPr>
          <a:lstStyle/>
          <a:p>
            <a:r>
              <a:rPr lang="en-US" sz="3200" dirty="0"/>
              <a:t>Supp Fig. 2 GLM-HMM</a:t>
            </a:r>
            <a:br>
              <a:rPr lang="en-US" sz="3200" dirty="0"/>
            </a:br>
            <a:r>
              <a:rPr lang="en-US" sz="3200" dirty="0"/>
              <a:t>whole session</a:t>
            </a:r>
          </a:p>
        </p:txBody>
      </p:sp>
    </p:spTree>
    <p:extLst>
      <p:ext uri="{BB962C8B-B14F-4D97-AF65-F5344CB8AC3E}">
        <p14:creationId xmlns:p14="http://schemas.microsoft.com/office/powerpoint/2010/main" val="2768749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65E3D-81DC-9F10-E44F-9CBD06DE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869E87C-389F-F8F6-A656-0CD9377D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41" y="-558966"/>
            <a:ext cx="5838713" cy="2140340"/>
          </a:xfrm>
        </p:spPr>
        <p:txBody>
          <a:bodyPr>
            <a:noAutofit/>
          </a:bodyPr>
          <a:lstStyle/>
          <a:p>
            <a:r>
              <a:rPr lang="en-US" sz="3600" dirty="0"/>
              <a:t>Supp Fig. 2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E3E4D-21B1-7928-D422-C37362A1C37B}"/>
              </a:ext>
            </a:extLst>
          </p:cNvPr>
          <p:cNvSpPr txBox="1">
            <a:spLocks/>
          </p:cNvSpPr>
          <p:nvPr/>
        </p:nvSpPr>
        <p:spPr>
          <a:xfrm>
            <a:off x="570251" y="867080"/>
            <a:ext cx="2905461" cy="2140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GLM-HMM</a:t>
            </a:r>
            <a:br>
              <a:rPr lang="en-US" sz="3200" dirty="0"/>
            </a:br>
            <a:r>
              <a:rPr lang="en-US" sz="3200" dirty="0"/>
              <a:t>equal prior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F7C25-AC53-6E66-0AB8-122D3F0C9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16428" y="3381962"/>
            <a:ext cx="3474824" cy="3034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2E691-BEDF-819A-E9E0-CF1664103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3375" y="3604086"/>
            <a:ext cx="3468935" cy="2590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9874D7-B540-5705-C79C-580FD89658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16428" y="204396"/>
            <a:ext cx="3474824" cy="3034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2A8F92-3957-CAD7-4485-3A965F95E5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3375" y="416696"/>
            <a:ext cx="3468935" cy="259072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1C3F377-CDC9-345C-05B6-10E55B202F9D}"/>
              </a:ext>
            </a:extLst>
          </p:cNvPr>
          <p:cNvSpPr txBox="1">
            <a:spLocks/>
          </p:cNvSpPr>
          <p:nvPr/>
        </p:nvSpPr>
        <p:spPr>
          <a:xfrm>
            <a:off x="193734" y="3418717"/>
            <a:ext cx="3131371" cy="2140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GLM-HMM</a:t>
            </a:r>
            <a:br>
              <a:rPr lang="en-US" sz="3200" dirty="0"/>
            </a:br>
            <a:r>
              <a:rPr lang="en-US" sz="3200" dirty="0"/>
              <a:t>unequal prior only</a:t>
            </a:r>
          </a:p>
        </p:txBody>
      </p:sp>
    </p:spTree>
    <p:extLst>
      <p:ext uri="{BB962C8B-B14F-4D97-AF65-F5344CB8AC3E}">
        <p14:creationId xmlns:p14="http://schemas.microsoft.com/office/powerpoint/2010/main" val="225171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435D9-43D2-428D-93A7-3737846D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2275769-F153-F72D-0283-84570E65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41" y="-558966"/>
            <a:ext cx="5838713" cy="2140340"/>
          </a:xfrm>
        </p:spPr>
        <p:txBody>
          <a:bodyPr>
            <a:noAutofit/>
          </a:bodyPr>
          <a:lstStyle/>
          <a:p>
            <a:r>
              <a:rPr lang="en-US" sz="3600" dirty="0"/>
              <a:t>Supp Fig. 2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1D90D-3E1B-F914-EAE6-22DA5E1D1825}"/>
              </a:ext>
            </a:extLst>
          </p:cNvPr>
          <p:cNvSpPr txBox="1">
            <a:spLocks/>
          </p:cNvSpPr>
          <p:nvPr/>
        </p:nvSpPr>
        <p:spPr>
          <a:xfrm>
            <a:off x="570251" y="867080"/>
            <a:ext cx="2905461" cy="2140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GLM-HMM</a:t>
            </a:r>
            <a:br>
              <a:rPr lang="en-US" sz="3200" dirty="0"/>
            </a:br>
            <a:r>
              <a:rPr lang="en-US" sz="3200" dirty="0"/>
              <a:t>equal prior only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7C21B-4229-6BDD-EA09-46F3B3CCA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0092" y="3206496"/>
            <a:ext cx="3616696" cy="2988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6C6BBC-0137-7608-11B3-578BCCCD9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90166" y="103039"/>
            <a:ext cx="3646559" cy="295667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5A64974-4AFB-F662-4437-CE7D53BFC1E9}"/>
              </a:ext>
            </a:extLst>
          </p:cNvPr>
          <p:cNvSpPr txBox="1">
            <a:spLocks/>
          </p:cNvSpPr>
          <p:nvPr/>
        </p:nvSpPr>
        <p:spPr>
          <a:xfrm>
            <a:off x="193734" y="3418717"/>
            <a:ext cx="3131371" cy="2140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GLM-HMM</a:t>
            </a:r>
            <a:br>
              <a:rPr lang="en-US" sz="3200" dirty="0"/>
            </a:br>
            <a:r>
              <a:rPr lang="en-US" sz="3200" dirty="0"/>
              <a:t>unequal prior only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08F178-DA65-D3FD-F721-D42292443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957" y="2990719"/>
            <a:ext cx="3951711" cy="320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94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3FD2-27AD-A3BE-C751-9A2816FC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3732-2260-2FDB-ED81-D21A6694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2 GLM-HMM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00EB9A-D238-A7ED-4120-25D05347E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568" y="2224610"/>
            <a:ext cx="3431560" cy="264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D0EC9-4815-1EF8-CD2C-F11D39C61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2791" y="2301772"/>
            <a:ext cx="4186417" cy="2568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FE5B99-AA29-CF74-F974-43740AB0D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9208" y="2377596"/>
            <a:ext cx="3836206" cy="249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7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20308</TotalTime>
  <Words>551</Words>
  <Application>Microsoft Macintosh PowerPoint</Application>
  <PresentationFormat>Widescreen</PresentationFormat>
  <Paragraphs>71</Paragraphs>
  <Slides>14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Unicode MS</vt:lpstr>
      <vt:lpstr>Aptos</vt:lpstr>
      <vt:lpstr>Aptos Display</vt:lpstr>
      <vt:lpstr>Arial</vt:lpstr>
      <vt:lpstr>Office Theme</vt:lpstr>
      <vt:lpstr>Prior encoding of Superior Colliculus in perceptual decision-making</vt:lpstr>
      <vt:lpstr>PowerPoint Presentation</vt:lpstr>
      <vt:lpstr>Fig.1 Behavior</vt:lpstr>
      <vt:lpstr>Supp fig 1</vt:lpstr>
      <vt:lpstr>Supp fig 1</vt:lpstr>
      <vt:lpstr>Supp fig 1</vt:lpstr>
      <vt:lpstr>Supp fig.2 Rolling PMF</vt:lpstr>
      <vt:lpstr>Fig.1 Behavior</vt:lpstr>
      <vt:lpstr>PowerPoint Presentation</vt:lpstr>
      <vt:lpstr>Fig. 2 GLM-HMM</vt:lpstr>
      <vt:lpstr>Supp Fig. 2 GLM-HMM whole session</vt:lpstr>
      <vt:lpstr>Supp Fig. 2 </vt:lpstr>
      <vt:lpstr>Supp Fig. 2 </vt:lpstr>
      <vt:lpstr>Fig. 2 GLM-HMM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Thakur</dc:creator>
  <cp:lastModifiedBy>Mary Hong</cp:lastModifiedBy>
  <cp:revision>45</cp:revision>
  <dcterms:created xsi:type="dcterms:W3CDTF">2025-07-16T18:57:40Z</dcterms:created>
  <dcterms:modified xsi:type="dcterms:W3CDTF">2025-08-06T02:16:56Z</dcterms:modified>
</cp:coreProperties>
</file>