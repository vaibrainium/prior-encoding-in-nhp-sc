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69" r:id="rId3"/>
    <p:sldId id="259" r:id="rId4"/>
    <p:sldId id="271" r:id="rId5"/>
    <p:sldId id="273" r:id="rId6"/>
    <p:sldId id="272" r:id="rId7"/>
    <p:sldId id="274" r:id="rId8"/>
    <p:sldId id="257" r:id="rId9"/>
    <p:sldId id="261" r:id="rId10"/>
    <p:sldId id="262" r:id="rId11"/>
    <p:sldId id="266" r:id="rId12"/>
    <p:sldId id="275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EE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958" autoAdjust="0"/>
    <p:restoredTop sz="90951" autoAdjust="0"/>
  </p:normalViewPr>
  <p:slideViewPr>
    <p:cSldViewPr snapToGrid="0">
      <p:cViewPr>
        <p:scale>
          <a:sx n="89" d="100"/>
          <a:sy n="89" d="100"/>
        </p:scale>
        <p:origin x="1068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A3E252F-87BF-4487-AB21-8F0FF193234C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472248-5027-4A3C-9488-9C593E53F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656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Top: Trial structure of the Glass Pattern task shown in a temporal sequence. The subject can choose as soon as the glass pattern stimuli appears.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Bottom: Every session is divided in two blocks. First is the equal block with 50/50 probability of left and right choices, The second block has unequal probability, with one target shown 70% probability and the other 30%. Each block consists of 400-900 trials.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67B371-ADA0-464E-A5F2-5276C7C18EA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2639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Psychometric functions of equal and unequal block in left prior(left panel, n=24) and right prior(right panel, n=21) sessions.</a:t>
            </a:r>
          </a:p>
          <a:p>
            <a:r>
              <a:rPr lang="en-US" sz="1200" dirty="0"/>
              <a:t>Dots are datapoints and lines are logistic fits. Transparent traces are session wise data, thicker traces are mean across sessions.</a:t>
            </a:r>
          </a:p>
          <a:p>
            <a:endParaRPr lang="en-US" dirty="0"/>
          </a:p>
          <a:p>
            <a:r>
              <a:rPr lang="en-US" sz="1200" dirty="0"/>
              <a:t>Top: Scatterplot of logistic fits alpha(threshold) parameters of each session in equal block vs unequal block.</a:t>
            </a:r>
          </a:p>
          <a:p>
            <a:r>
              <a:rPr lang="en-US" sz="1200" dirty="0"/>
              <a:t>Bottom: Same as top for logistic fit beta parameter.</a:t>
            </a:r>
          </a:p>
          <a:p>
            <a:r>
              <a:rPr lang="en-US" sz="1200" dirty="0"/>
              <a:t>Blue: left prior sessions, Brown: right prior sessions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241002_GP_TZ equal beta is 0.172</a:t>
            </a:r>
            <a:endParaRPr lang="en-US" sz="12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8024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Half Psychometric functions fit to left and right choices separately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48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Chronometric functions of equal and unequal prior blocks for left-prior sessions (top panel, n=24 sessions) and right-prior sessions (bottom panel, n=21 sessions).In each panel, the left subplot shows mean reaction time for correct trials, and the right subplot shows mean reaction time for incorrect trials.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14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Traditional psychophysics (SDT)</a:t>
            </a:r>
            <a:r>
              <a:rPr lang="en-US" dirty="0"/>
              <a:t> assumes a static criterion and lacks temporal structure.</a:t>
            </a:r>
            <a:br>
              <a:rPr lang="en-US" dirty="0"/>
            </a:br>
            <a:r>
              <a:rPr lang="en-US" b="1" dirty="0"/>
              <a:t>Drift-diffusion models (DDM)</a:t>
            </a:r>
            <a:r>
              <a:rPr lang="en-US" dirty="0"/>
              <a:t> introduce within-trial dynamics but ignore across-trial dependencies.</a:t>
            </a:r>
            <a:br>
              <a:rPr lang="en-US" dirty="0"/>
            </a:br>
            <a:r>
              <a:rPr lang="en-US" b="1" dirty="0"/>
              <a:t>GLM-HMM</a:t>
            </a:r>
            <a:r>
              <a:rPr lang="en-US" dirty="0"/>
              <a:t> bridges the gap by modeling hidden cognitive states that evolve over trials and shape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9427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2327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Log-likelihood: 2 states is the best</a:t>
            </a:r>
          </a:p>
          <a:p>
            <a:r>
              <a:rPr lang="en-US" dirty="0"/>
              <a:t>Predictive accuracy: 5 states is the highest</a:t>
            </a:r>
          </a:p>
          <a:p>
            <a:endParaRPr lang="en-US" dirty="0"/>
          </a:p>
          <a:p>
            <a:r>
              <a:rPr lang="en-US" dirty="0"/>
              <a:t>5 states models are overall over-confident, i.e. higher penalty on incorrect predictions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8271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676C2-6E7E-86D0-55FA-0FFBAF67A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510152-3A39-5656-FEE7-6106915C8E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D1AC3C-EDA9-B509-CE9F-3304E280E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Equal prior only: 1 state</a:t>
            </a:r>
          </a:p>
          <a:p>
            <a:r>
              <a:rPr lang="en-US" dirty="0"/>
              <a:t>Unequal prior only: 2 states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4C810-D811-8AC2-3F11-DE1CEC83C7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8589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26174D-4889-6B1A-5F22-0512173A2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890C6B-394D-98F5-5989-3B6287E78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69655C-F4C7-B025-6088-E77E1DF08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41845-DBF9-D5D3-0AD0-EB44364BA9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472248-5027-4A3C-9488-9C593E53F37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34071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8B8B1-5EE2-A939-BA5A-D22E9F928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393796-2CE0-7A3F-29AD-2E56C9A6AB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5CC1D-A3EB-40F5-20D1-74F8A83EA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8E9938-28B6-14B0-F44C-E194B2B5D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3F12DE-CE0B-F59E-9353-049B03666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0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0659A-856B-2ED8-68B2-EB9807DCC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5AD865-ADC3-52F9-2234-49B13CE320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AB0319-E71F-551A-F6FF-2A27FBC7C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6C3A6A-094D-245E-CEE4-AD4FA5AE8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01B371-8FDC-7724-15F5-934EF6FD2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565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680AC-ACB7-071C-4FFA-B6654BE17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AFEB0E-34B2-8285-E6D2-4DC6A732E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767285-5CC3-0C41-3565-40DA2665B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AE6A7A-5B88-26A6-5747-569853D96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166051-089B-70DB-CB71-50581195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154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E8AFB-18CE-6E7F-4721-193959BFD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9BE2A5-956A-1A00-3557-D1E303903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561B2-CD8A-8758-5D9A-AB67F0F5DF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A2D394-A528-A6A9-2DBE-56A365896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BCD1E6-5D18-D08B-B16B-3A6FA5022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1F0625-693C-BBB5-23DD-DB0B6EFA5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3672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35B08-EF84-6319-A437-B9894E62C5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8A3AEF-C52C-C275-ED9F-4E5A862B03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798C05-5E0B-2549-227F-779FD3AD9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9CBDB4-5C34-E7D0-64E4-F2B7B3D9AA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1012B8-7F01-2593-5021-49B5516FF2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1570739-68E0-BA40-711E-0145DD7D2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CCD5F8-84ED-B691-31AC-6FCCA65EF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757918-F31D-468A-87AD-1D9F856C1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52249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6435E-5B74-D339-E3EF-BE8E4DC46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AE3E95-5085-9BB9-4924-39593D358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11C777A-AB1B-1133-994B-791DA9A656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6298F4-958F-233A-4FB7-26F79AC67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0076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C401A2-591A-7164-E278-58A00F208E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940884-B6E7-7FEA-8C77-C1AC66DFB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3F9AA-D399-5394-10FB-39331548A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116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26B47-2542-46CC-BD9B-8CEC55E03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057D36-BBF3-EDCD-E7B2-2A16F7EBC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200D53-7F4D-A330-F096-657AFDC9CE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821E79-46E7-6F71-F9E1-A76393CC8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A034D-CED1-6EB5-5D27-B10D72E1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D4D42-4C52-399B-7711-A7098F1B7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93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BF8AF-3037-F5B8-89B8-AF7406A86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69924C-13C3-8A4B-8711-0233BFD1FC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7FFDC9-64F1-B0AB-C18F-32935CADE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81E4FC-14BC-F26F-ADC3-0E27E260A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1CB6D0-C90A-8D6F-7303-49BD85DEB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60419-DCE5-9D68-D192-BD60D7DD4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634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195E1-C69D-3945-8D63-79ECA4EBE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1880F7-7D65-3CC5-037A-E7B2407D05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EAC74-3CC0-2AEC-05F1-602C6575D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89B646-434A-6202-14A5-998FB4BC1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14563-BE45-2D40-0837-4D81F9967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985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E48DBD-D773-94FA-DB7B-8EC2D388ED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AB51AF-90EB-A478-1CFA-FBBF916A1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8B2425-2209-863D-0C18-06DA88CF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F6AAF7-2BB1-4A84-8C15-D326179851E7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160A2-E068-8C7F-FD7A-CA3F174C9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C37A6-DB27-D0DE-6FF1-76D28B97A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3787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12C08D-9E10-18D8-F1BB-7951C7DF8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F12877-8AF8-8B1B-5749-EA29C0910E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3B625-FB18-B3A4-0287-DB57CBBF64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F6AAF7-2BB1-4A84-8C15-D326179851E7}" type="datetimeFigureOut">
              <a:rPr lang="en-US" smtClean="0"/>
              <a:t>7/28/2025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0C912D-E717-4656-C34A-30F3B1CD93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F58B4E-D96D-66AB-A085-BC6388EAB8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F5AA540-0967-4BAE-A9AF-A7B44EDDC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67520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gif"/><Relationship Id="rId3" Type="http://schemas.microsoft.com/office/2007/relationships/media" Target="../media/media2.mp4"/><Relationship Id="rId7" Type="http://schemas.openxmlformats.org/officeDocument/2006/relationships/image" Target="../media/image13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notesSlide" Target="../notesSlides/notesSlide5.xml"/><Relationship Id="rId11" Type="http://schemas.openxmlformats.org/officeDocument/2006/relationships/image" Target="../media/image17.png"/><Relationship Id="rId5" Type="http://schemas.openxmlformats.org/officeDocument/2006/relationships/slideLayout" Target="../slideLayouts/slideLayout2.xml"/><Relationship Id="rId10" Type="http://schemas.openxmlformats.org/officeDocument/2006/relationships/image" Target="../media/image16.png"/><Relationship Id="rId4" Type="http://schemas.openxmlformats.org/officeDocument/2006/relationships/video" Target="../media/media2.mp4"/><Relationship Id="rId9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FBD1E-DF14-CDF1-14E5-33F8534E56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332599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Prior encoding of Superior Colliculus in perceptual decision-making</a:t>
            </a:r>
          </a:p>
        </p:txBody>
      </p:sp>
    </p:spTree>
    <p:extLst>
      <p:ext uri="{BB962C8B-B14F-4D97-AF65-F5344CB8AC3E}">
        <p14:creationId xmlns:p14="http://schemas.microsoft.com/office/powerpoint/2010/main" val="2414007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A880B41-F9A2-642C-9555-289FE121F2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098" b="47872"/>
          <a:stretch/>
        </p:blipFill>
        <p:spPr>
          <a:xfrm>
            <a:off x="1895038" y="1413300"/>
            <a:ext cx="5664518" cy="270150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8C616500-39DA-E70C-1280-116756D1988D}"/>
              </a:ext>
            </a:extLst>
          </p:cNvPr>
          <p:cNvGrpSpPr/>
          <p:nvPr/>
        </p:nvGrpSpPr>
        <p:grpSpPr>
          <a:xfrm>
            <a:off x="2537360" y="4410635"/>
            <a:ext cx="3370730" cy="612400"/>
            <a:chOff x="1303020" y="4491318"/>
            <a:chExt cx="4422290" cy="792519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151D99C-FF91-3DE5-5D42-1B3C83E7BD6C}"/>
                </a:ext>
              </a:extLst>
            </p:cNvPr>
            <p:cNvSpPr/>
            <p:nvPr/>
          </p:nvSpPr>
          <p:spPr>
            <a:xfrm>
              <a:off x="1303020" y="4491318"/>
              <a:ext cx="2211145" cy="788894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2038B71-2DD1-FDEA-B72E-81FD22ED99A8}"/>
                </a:ext>
              </a:extLst>
            </p:cNvPr>
            <p:cNvSpPr/>
            <p:nvPr/>
          </p:nvSpPr>
          <p:spPr>
            <a:xfrm>
              <a:off x="3514165" y="4491318"/>
              <a:ext cx="2211145" cy="78889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A62632E-E3E9-3ED3-CA25-7F0EF9DD1BFD}"/>
                </a:ext>
              </a:extLst>
            </p:cNvPr>
            <p:cNvSpPr txBox="1"/>
            <p:nvPr/>
          </p:nvSpPr>
          <p:spPr>
            <a:xfrm>
              <a:off x="1303020" y="4516192"/>
              <a:ext cx="2211146" cy="75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latin typeface="Arial" panose="020B0604020202020204" pitchFamily="34" charset="0"/>
                  <a:ea typeface="Arial Unicode MS" panose="020B0604020202020204" pitchFamily="34" charset="-128"/>
                  <a:cs typeface="Arial" panose="020B0604020202020204" pitchFamily="34" charset="0"/>
                </a:rPr>
                <a:t>Equal block</a:t>
              </a:r>
            </a:p>
            <a:p>
              <a:pPr algn="ctr"/>
              <a:r>
                <a:rPr lang="en-US" sz="1600" b="1" dirty="0">
                  <a:latin typeface="Arial" panose="020B0604020202020204" pitchFamily="34" charset="0"/>
                  <a:ea typeface="Arial Unicode MS" panose="020B0604020202020204" pitchFamily="34" charset="-128"/>
                  <a:cs typeface="Arial" panose="020B0604020202020204" pitchFamily="34" charset="0"/>
                </a:rPr>
                <a:t>50:50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F532924-E0BA-A55A-C98C-B0910C1B8402}"/>
                </a:ext>
              </a:extLst>
            </p:cNvPr>
            <p:cNvSpPr txBox="1"/>
            <p:nvPr/>
          </p:nvSpPr>
          <p:spPr>
            <a:xfrm>
              <a:off x="3514163" y="4527068"/>
              <a:ext cx="2211143" cy="7567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latin typeface="Arial" panose="020B0604020202020204" pitchFamily="34" charset="0"/>
                  <a:ea typeface="Arial Unicode MS" panose="020B0604020202020204" pitchFamily="34" charset="-128"/>
                  <a:cs typeface="Arial" panose="020B0604020202020204" pitchFamily="34" charset="0"/>
                </a:rPr>
                <a:t>Unequal block</a:t>
              </a:r>
            </a:p>
            <a:p>
              <a:pPr algn="ctr"/>
              <a:r>
                <a:rPr lang="en-US" sz="1600" b="1" dirty="0">
                  <a:latin typeface="Arial" panose="020B0604020202020204" pitchFamily="34" charset="0"/>
                  <a:ea typeface="Arial Unicode MS" panose="020B0604020202020204" pitchFamily="34" charset="-128"/>
                  <a:cs typeface="Arial" panose="020B0604020202020204" pitchFamily="34" charset="0"/>
                </a:rPr>
                <a:t>70:30 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B877C7BD-D466-C7E7-D408-BB8712CE104E}"/>
              </a:ext>
            </a:extLst>
          </p:cNvPr>
          <p:cNvSpPr txBox="1"/>
          <p:nvPr/>
        </p:nvSpPr>
        <p:spPr>
          <a:xfrm flipV="1">
            <a:off x="1343431" y="1452283"/>
            <a:ext cx="492443" cy="184672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sz="2000" b="1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Trial Structure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618246-38DA-F81A-986F-9FADB4B4B9C8}"/>
              </a:ext>
            </a:extLst>
          </p:cNvPr>
          <p:cNvSpPr txBox="1"/>
          <p:nvPr/>
        </p:nvSpPr>
        <p:spPr>
          <a:xfrm flipV="1">
            <a:off x="1343431" y="3558988"/>
            <a:ext cx="492443" cy="184672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sz="2000" b="1" dirty="0">
                <a:latin typeface="Arial Unicode MS" panose="020B0604020202020204" pitchFamily="34" charset="-128"/>
                <a:ea typeface="Arial Unicode MS" panose="020B0604020202020204" pitchFamily="34" charset="-128"/>
                <a:cs typeface="Arial Unicode MS" panose="020B0604020202020204" pitchFamily="34" charset="-128"/>
              </a:rPr>
              <a:t>Block design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A4DA63-A312-5F14-1934-6E043C485911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Fig1. Task</a:t>
            </a:r>
            <a:endParaRPr lang="en-US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E5FA80C4-C9E3-B6D6-E326-035058A4E8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081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3F99CBE-8F7E-C530-C055-79E73B8B8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883" y="1622611"/>
            <a:ext cx="5709668" cy="28410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0CD59AD-32C3-CB2C-4324-537D54E9EA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999627" y="744013"/>
            <a:ext cx="3308102" cy="2743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056B488-4807-06A5-33E5-8136D0605B3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17980" y="3812955"/>
            <a:ext cx="3303822" cy="2743200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9E434BDD-AAEF-1BE6-1E64-83D90B03BB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Fig.1 Behavior</a:t>
            </a:r>
          </a:p>
        </p:txBody>
      </p:sp>
    </p:spTree>
    <p:extLst>
      <p:ext uri="{BB962C8B-B14F-4D97-AF65-F5344CB8AC3E}">
        <p14:creationId xmlns:p14="http://schemas.microsoft.com/office/powerpoint/2010/main" val="20395383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8D712-10F1-0F8D-C7B2-5C9FEAD65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 fig 1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DDBAF8F-3C19-4AB3-AB49-6E687EE928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5274" y="882526"/>
            <a:ext cx="6180595" cy="509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3077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4B3AB-9673-7EA3-BB02-627829607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1D72A-81BA-4824-0651-F8E6E0D09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 fig 1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C138CFE-B62C-5BE5-68CB-9DB0ABBD51F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26161" y="685800"/>
            <a:ext cx="6294140" cy="274320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D0F72F3-F42A-513B-A8FB-D5E7F596A4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161" y="3749675"/>
            <a:ext cx="6243413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5150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5045ED-11B9-CD40-FD80-5FCAA6C33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9AB51-375D-315B-92F8-B0A3C1380E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 fig 1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520CA8C-764A-7165-05E2-57744599C7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626161" y="685800"/>
            <a:ext cx="6294140" cy="274320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39BEFE-43F8-854A-159F-FF604B8B81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93624" y="3569560"/>
            <a:ext cx="6243413" cy="2743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5766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ECD58-AA8D-2A0B-2744-4718B1623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Supp fig.2 Rolling PMF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0AF5D7-06FC-55E6-5307-33B44FA9B8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169090" cy="4351338"/>
          </a:xfrm>
        </p:spPr>
        <p:txBody>
          <a:bodyPr/>
          <a:lstStyle/>
          <a:p>
            <a:r>
              <a:rPr lang="en-US" dirty="0"/>
              <a:t>Psych function every 80 trials.</a:t>
            </a:r>
          </a:p>
          <a:p>
            <a:r>
              <a:rPr lang="en-US" dirty="0"/>
              <a:t>Convolve with rolling mean kernel of 30 window size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3C514E-EE6E-666D-F239-86CC58EED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99116" y="146048"/>
            <a:ext cx="4360092" cy="6711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1370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9F0A8-A801-B0AD-CA01-3875524E2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Fig.1 Behavior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F936681-5B3C-5238-596D-02EA5162C4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8279" y="597716"/>
            <a:ext cx="7607064" cy="2743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5658C9E-1DB3-8EF4-504F-99DA4B4147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8277" y="3463986"/>
            <a:ext cx="7607066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694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animation_cConservative">
            <a:hlinkClick r:id="" action="ppaction://media"/>
            <a:extLst>
              <a:ext uri="{FF2B5EF4-FFF2-40B4-BE49-F238E27FC236}">
                <a16:creationId xmlns:a16="http://schemas.microsoft.com/office/drawing/2014/main" id="{66D30052-3801-AFC0-13F5-6C1197D2A4D6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43223" y="3250406"/>
            <a:ext cx="3048278" cy="2286000"/>
          </a:xfrm>
        </p:spPr>
      </p:pic>
      <p:pic>
        <p:nvPicPr>
          <p:cNvPr id="6" name="Picture 5" descr="A black and white graph&#10;&#10;AI-generated content may be incorrect.">
            <a:extLst>
              <a:ext uri="{FF2B5EF4-FFF2-40B4-BE49-F238E27FC236}">
                <a16:creationId xmlns:a16="http://schemas.microsoft.com/office/drawing/2014/main" id="{1AAA0A0F-7C5A-0D46-0602-7E298DBEA61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5792" y="1945158"/>
            <a:ext cx="3048000" cy="2286000"/>
          </a:xfrm>
          <a:prstGeom prst="rect">
            <a:avLst/>
          </a:prstGeom>
        </p:spPr>
      </p:pic>
      <p:pic>
        <p:nvPicPr>
          <p:cNvPr id="7" name="animation_dprime">
            <a:hlinkClick r:id="" action="ppaction://media"/>
            <a:extLst>
              <a:ext uri="{FF2B5EF4-FFF2-40B4-BE49-F238E27FC236}">
                <a16:creationId xmlns:a16="http://schemas.microsoft.com/office/drawing/2014/main" id="{F92FB77D-3C2E-B1D4-14E7-7692A912E84D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443501" y="390850"/>
            <a:ext cx="3048000" cy="22860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9957488-65A2-9A8F-D38B-0CE89FC539A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76612" y="2729691"/>
            <a:ext cx="3956625" cy="268859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524CA4A-29A7-3A0E-8B6E-05D2A65E989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2810" y="114075"/>
            <a:ext cx="3505689" cy="3086531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709136-A665-86E4-7732-CD3CB2625A25}"/>
              </a:ext>
            </a:extLst>
          </p:cNvPr>
          <p:cNvCxnSpPr/>
          <p:nvPr/>
        </p:nvCxnSpPr>
        <p:spPr>
          <a:xfrm>
            <a:off x="4086225" y="271456"/>
            <a:ext cx="0" cy="6293644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5E0C57E-F420-51AE-82D0-1E7AD82EA768}"/>
              </a:ext>
            </a:extLst>
          </p:cNvPr>
          <p:cNvCxnSpPr/>
          <p:nvPr/>
        </p:nvCxnSpPr>
        <p:spPr>
          <a:xfrm>
            <a:off x="7928962" y="427117"/>
            <a:ext cx="0" cy="6293644"/>
          </a:xfrm>
          <a:prstGeom prst="line">
            <a:avLst/>
          </a:prstGeom>
          <a:ln w="762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D03589E-E80F-7C18-989B-3F3F64A154DA}"/>
              </a:ext>
            </a:extLst>
          </p:cNvPr>
          <p:cNvSpPr txBox="1"/>
          <p:nvPr/>
        </p:nvSpPr>
        <p:spPr>
          <a:xfrm>
            <a:off x="150019" y="5536406"/>
            <a:ext cx="334176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Stationary decision criterion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No time or learning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Independent trials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Priors shift bias (α), not sensitivity</a:t>
            </a:r>
          </a:p>
          <a:p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008572-B693-7231-E791-11104663EFF2}"/>
              </a:ext>
            </a:extLst>
          </p:cNvPr>
          <p:cNvSpPr txBox="1"/>
          <p:nvPr/>
        </p:nvSpPr>
        <p:spPr>
          <a:xfrm>
            <a:off x="4186238" y="4850606"/>
            <a:ext cx="34950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Within-trial dynamics which captures RT and accuracy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Fixed bias, no history dependence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44818D3-76C7-00B8-397F-E92F5C715B87}"/>
              </a:ext>
            </a:extLst>
          </p:cNvPr>
          <p:cNvSpPr txBox="1"/>
          <p:nvPr/>
        </p:nvSpPr>
        <p:spPr>
          <a:xfrm>
            <a:off x="8242810" y="5418289"/>
            <a:ext cx="35288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Between-trial dependencies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Latent cognitive states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History-aware decision model</a:t>
            </a: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AB5EE34D-DB65-2C56-C913-9A6CC74D3A2C}"/>
              </a:ext>
            </a:extLst>
          </p:cNvPr>
          <p:cNvSpPr/>
          <p:nvPr/>
        </p:nvSpPr>
        <p:spPr>
          <a:xfrm>
            <a:off x="1867489" y="2701750"/>
            <a:ext cx="45719" cy="523756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5CBCE9-3911-7285-BCFF-ECCEC1332823}"/>
              </a:ext>
            </a:extLst>
          </p:cNvPr>
          <p:cNvSpPr txBox="1"/>
          <p:nvPr/>
        </p:nvSpPr>
        <p:spPr>
          <a:xfrm>
            <a:off x="1946131" y="2729691"/>
            <a:ext cx="56152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88782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572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3572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3572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0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5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16" repeatCount="indefinite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9F9B1-CD61-B64C-0D8C-9C2872835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 2 GLM-HMM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CAADE6A-566F-7AD4-BA81-D5F7470171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32128" y="2466518"/>
            <a:ext cx="3628723" cy="2812758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EDC456D4-29BD-B94E-9175-4361FD929B8B}"/>
              </a:ext>
            </a:extLst>
          </p:cNvPr>
          <p:cNvGrpSpPr/>
          <p:nvPr/>
        </p:nvGrpSpPr>
        <p:grpSpPr>
          <a:xfrm>
            <a:off x="708361" y="2348183"/>
            <a:ext cx="3702125" cy="2833547"/>
            <a:chOff x="719119" y="2466518"/>
            <a:chExt cx="3589503" cy="274320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E51462A-E301-AFE2-67CF-F12D27F77B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719119" y="2534873"/>
              <a:ext cx="3589503" cy="2674845"/>
            </a:xfrm>
            <a:prstGeom prst="rect">
              <a:avLst/>
            </a:prstGeom>
          </p:spPr>
        </p:pic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E4117C3B-20F6-17B8-21C5-1E5DA8189EBE}"/>
                </a:ext>
              </a:extLst>
            </p:cNvPr>
            <p:cNvSpPr/>
            <p:nvPr/>
          </p:nvSpPr>
          <p:spPr>
            <a:xfrm>
              <a:off x="1742565" y="2466518"/>
              <a:ext cx="500063" cy="460254"/>
            </a:xfrm>
            <a:prstGeom prst="roundRect">
              <a:avLst/>
            </a:prstGeom>
            <a:noFill/>
            <a:ln w="38100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B3A8FA4A-C80B-23AE-0E2F-F7767C4831A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63997" y="2455522"/>
            <a:ext cx="3914620" cy="2833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66685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2AA24-BDA2-79B6-4683-6DF63DC1D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B60A0AB-3D04-1AE0-49FC-48FD416A03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94549" y="0"/>
            <a:ext cx="4114800" cy="359393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3E24DCD-D397-183C-C7A5-3AC58BFDAA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88368" y="361130"/>
            <a:ext cx="4114800" cy="306787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668DA3-F20A-DC0F-3F34-EEFA322FF5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2346" y="3664404"/>
            <a:ext cx="3806397" cy="305331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84EB53D-5A5F-73C3-5F80-A871BFA5961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022980" y="3737827"/>
            <a:ext cx="6430522" cy="2979892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4FF93408-74AE-B4CF-ED9A-53020C00A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7287" y="140281"/>
            <a:ext cx="2539701" cy="1325563"/>
          </a:xfrm>
        </p:spPr>
        <p:txBody>
          <a:bodyPr>
            <a:noAutofit/>
          </a:bodyPr>
          <a:lstStyle/>
          <a:p>
            <a:r>
              <a:rPr lang="en-US" sz="3200" dirty="0"/>
              <a:t>Supp Fig. 2 GLM-HMM</a:t>
            </a:r>
            <a:br>
              <a:rPr lang="en-US" sz="3200" dirty="0"/>
            </a:br>
            <a:r>
              <a:rPr lang="en-US" sz="3200" dirty="0"/>
              <a:t>whole session</a:t>
            </a:r>
          </a:p>
        </p:txBody>
      </p:sp>
    </p:spTree>
    <p:extLst>
      <p:ext uri="{BB962C8B-B14F-4D97-AF65-F5344CB8AC3E}">
        <p14:creationId xmlns:p14="http://schemas.microsoft.com/office/powerpoint/2010/main" val="27687493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65E3D-81DC-9F10-E44F-9CBD06DE7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1869E87C-389F-F8F6-A656-0CD9377D3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341" y="-558966"/>
            <a:ext cx="5838713" cy="2140340"/>
          </a:xfrm>
        </p:spPr>
        <p:txBody>
          <a:bodyPr>
            <a:noAutofit/>
          </a:bodyPr>
          <a:lstStyle/>
          <a:p>
            <a:r>
              <a:rPr lang="en-US" sz="3600" dirty="0"/>
              <a:t>Supp Fig. 2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5E3E4D-21B1-7928-D422-C37362A1C37B}"/>
              </a:ext>
            </a:extLst>
          </p:cNvPr>
          <p:cNvSpPr txBox="1">
            <a:spLocks/>
          </p:cNvSpPr>
          <p:nvPr/>
        </p:nvSpPr>
        <p:spPr>
          <a:xfrm>
            <a:off x="570251" y="867080"/>
            <a:ext cx="2905461" cy="21403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GLM-HMM</a:t>
            </a:r>
            <a:br>
              <a:rPr lang="en-US" sz="3200" dirty="0"/>
            </a:br>
            <a:r>
              <a:rPr lang="en-US" sz="3200" dirty="0"/>
              <a:t>equal prior only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DF7C25-AC53-6E66-0AB8-122D3F0C96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16428" y="3381962"/>
            <a:ext cx="3474824" cy="30349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52E691-BEDF-819A-E9E0-CF1664103B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13375" y="3604086"/>
            <a:ext cx="3468935" cy="259072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F9874D7-B540-5705-C79C-580FD896580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816428" y="204396"/>
            <a:ext cx="3474824" cy="303497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02A8F92-3957-CAD7-4485-3A965F95E5E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13375" y="416696"/>
            <a:ext cx="3468935" cy="2590724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11C3F377-CDC9-345C-05B6-10E55B202F9D}"/>
              </a:ext>
            </a:extLst>
          </p:cNvPr>
          <p:cNvSpPr txBox="1">
            <a:spLocks/>
          </p:cNvSpPr>
          <p:nvPr/>
        </p:nvSpPr>
        <p:spPr>
          <a:xfrm>
            <a:off x="193734" y="3418717"/>
            <a:ext cx="3131371" cy="214034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200" dirty="0"/>
              <a:t>GLM-HMM</a:t>
            </a:r>
            <a:br>
              <a:rPr lang="en-US" sz="3200" dirty="0"/>
            </a:br>
            <a:r>
              <a:rPr lang="en-US" sz="3200" dirty="0"/>
              <a:t>unequal prior only</a:t>
            </a:r>
          </a:p>
        </p:txBody>
      </p:sp>
    </p:spTree>
    <p:extLst>
      <p:ext uri="{BB962C8B-B14F-4D97-AF65-F5344CB8AC3E}">
        <p14:creationId xmlns:p14="http://schemas.microsoft.com/office/powerpoint/2010/main" val="2251712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C53FD2-27AD-A3BE-C751-9A2816FCE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C3732-2260-2FDB-ED81-D21A6694C2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Fig. 2 GLM-HMM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00EB9A-D238-A7ED-4120-25D05347ED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0222" y="2224610"/>
            <a:ext cx="3440253" cy="26461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9CD0EC9-4815-1EF8-CD2C-F11D39C61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53871" y="2422684"/>
            <a:ext cx="4708029" cy="256893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1FE5B99-AA29-CF74-F974-43740AB0D1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260556" y="2422684"/>
            <a:ext cx="3836206" cy="2525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976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20191</TotalTime>
  <Words>479</Words>
  <Application>Microsoft Office PowerPoint</Application>
  <PresentationFormat>Widescreen</PresentationFormat>
  <Paragraphs>60</Paragraphs>
  <Slides>13</Slides>
  <Notes>9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Arial Unicode MS</vt:lpstr>
      <vt:lpstr>Office Theme</vt:lpstr>
      <vt:lpstr>Prior encoding of Superior Colliculus in perceptual decision-making</vt:lpstr>
      <vt:lpstr>PowerPoint Presentation</vt:lpstr>
      <vt:lpstr>Fig.1 Behavior</vt:lpstr>
      <vt:lpstr>Supp fig 1</vt:lpstr>
      <vt:lpstr>Supp fig 1</vt:lpstr>
      <vt:lpstr>Supp fig 1</vt:lpstr>
      <vt:lpstr>Supp fig.2 Rolling PMF</vt:lpstr>
      <vt:lpstr>Fig.1 Behavior</vt:lpstr>
      <vt:lpstr>PowerPoint Presentation</vt:lpstr>
      <vt:lpstr>Fig. 2 GLM-HMM</vt:lpstr>
      <vt:lpstr>Supp Fig. 2 GLM-HMM whole session</vt:lpstr>
      <vt:lpstr>Supp Fig. 2 </vt:lpstr>
      <vt:lpstr>Fig. 2 GLM-HMM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Vaibhav Thakur</dc:creator>
  <cp:lastModifiedBy>Vaibhav Thakur</cp:lastModifiedBy>
  <cp:revision>38</cp:revision>
  <dcterms:created xsi:type="dcterms:W3CDTF">2025-07-16T18:57:40Z</dcterms:created>
  <dcterms:modified xsi:type="dcterms:W3CDTF">2025-08-04T23:04:07Z</dcterms:modified>
</cp:coreProperties>
</file>